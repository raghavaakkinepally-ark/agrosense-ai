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8.png"/><Relationship Id="rId10" Type="http://schemas.openxmlformats.org/officeDocument/2006/relationships/image" Target="../media/image-3-10.png"/><Relationship Id="rId11" Type="http://schemas.openxmlformats.org/officeDocument/2006/relationships/image" Target="../media/image-3-7.png"/><Relationship Id="rId12" Type="http://schemas.openxmlformats.org/officeDocument/2006/relationships/image" Target="../media/image-3-8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4.png"/><Relationship Id="rId6" Type="http://schemas.openxmlformats.org/officeDocument/2006/relationships/image" Target="../media/image-8-4.png"/><Relationship Id="rId7" Type="http://schemas.openxmlformats.org/officeDocument/2006/relationships/image" Target="../media/image-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2.png"/><Relationship Id="rId7" Type="http://schemas.openxmlformats.org/officeDocument/2006/relationships/image" Target="../media/image-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8.png"/><Relationship Id="rId10" Type="http://schemas.openxmlformats.org/officeDocument/2006/relationships/image" Target="../media/image-11-8.png"/><Relationship Id="rId11" Type="http://schemas.openxmlformats.org/officeDocument/2006/relationships/image" Target="../media/image-11-8.png"/><Relationship Id="rId12" Type="http://schemas.openxmlformats.org/officeDocument/2006/relationships/image" Target="../media/image-11-8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943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594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DEVERT-A-THON 2026  ·  DVPS07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594360"/>
            <a:ext cx="3291840" cy="365760"/>
          </a:xfrm>
          <a:prstGeom prst="roundRect">
            <a:avLst>
              <a:gd name="adj" fmla="val 50000"/>
            </a:avLst>
          </a:prstGeom>
          <a:ln w="12700">
            <a:solidFill>
              <a:srgbClr val="74C69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AGROSENSE AI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CROP DOCTOR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“Snap a leaf. Know the problem. Get the right guidance.”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366760" y="1325880"/>
            <a:ext cx="2651760" cy="5029200"/>
          </a:xfrm>
          <a:prstGeom prst="roundRect">
            <a:avLst>
              <a:gd name="adj" fmla="val 12069"/>
            </a:avLst>
          </a:prstGeom>
          <a:solidFill>
            <a:srgbClr val="14342A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63040"/>
            <a:ext cx="2377440" cy="4754880"/>
          </a:xfrm>
          <a:prstGeom prst="roundRect">
            <a:avLst>
              <a:gd name="adj" fmla="val 10769"/>
            </a:avLst>
          </a:prstGeom>
          <a:solidFill>
            <a:srgbClr val="2B2B28"/>
          </a:solidFill>
          <a:ln w="19050">
            <a:solidFill>
              <a:srgbClr val="74C6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13648" y="1691640"/>
            <a:ext cx="2157984" cy="4069080"/>
          </a:xfrm>
          <a:prstGeom prst="roundRect">
            <a:avLst>
              <a:gd name="adj" fmla="val 6780"/>
            </a:avLst>
          </a:prstGeom>
          <a:solidFill>
            <a:srgbClr val="0E241D"/>
          </a:solidFill>
          <a:ln/>
        </p:spPr>
      </p:sp>
      <p:sp>
        <p:nvSpPr>
          <p:cNvPr id="13" name="Shape 11"/>
          <p:cNvSpPr/>
          <p:nvPr/>
        </p:nvSpPr>
        <p:spPr>
          <a:xfrm>
            <a:off x="9189720" y="2286000"/>
            <a:ext cx="1005840" cy="1005840"/>
          </a:xfrm>
          <a:prstGeom prst="ellipse">
            <a:avLst/>
          </a:prstGeom>
          <a:solidFill>
            <a:srgbClr val="1E4636"/>
          </a:solidFill>
          <a:ln/>
        </p:spPr>
      </p:sp>
      <p:pic>
        <p:nvPicPr>
          <p:cNvPr id="14" name="Image 0" descr="/home/claude/agrosense/icons/leaf_light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5508" y="2421788"/>
            <a:ext cx="734263" cy="73426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823960" y="2057400"/>
            <a:ext cx="256032" cy="45720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16" name="Shape 13"/>
          <p:cNvSpPr/>
          <p:nvPr/>
        </p:nvSpPr>
        <p:spPr>
          <a:xfrm>
            <a:off x="8823960" y="2057400"/>
            <a:ext cx="45720" cy="256032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85832" y="2057400"/>
            <a:ext cx="256032" cy="45720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85832" y="2057400"/>
            <a:ext cx="45720" cy="256032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19" name="Shape 16"/>
          <p:cNvSpPr/>
          <p:nvPr/>
        </p:nvSpPr>
        <p:spPr>
          <a:xfrm>
            <a:off x="8823960" y="3538728"/>
            <a:ext cx="256032" cy="45720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20" name="Shape 17"/>
          <p:cNvSpPr/>
          <p:nvPr/>
        </p:nvSpPr>
        <p:spPr>
          <a:xfrm>
            <a:off x="8823960" y="3538728"/>
            <a:ext cx="45720" cy="256032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85832" y="3538728"/>
            <a:ext cx="256032" cy="45720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85832" y="3538728"/>
            <a:ext cx="45720" cy="256032"/>
          </a:xfrm>
          <a:prstGeom prst="roundRect">
            <a:avLst/>
          </a:prstGeom>
          <a:solidFill>
            <a:srgbClr val="74C69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13648" y="3886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LEAF...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78240" y="42976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63B2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887968" y="4407408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Leaf Spot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189720" y="5897880"/>
            <a:ext cx="1005840" cy="73152"/>
          </a:xfrm>
          <a:prstGeom prst="roundRect">
            <a:avLst>
              <a:gd name="adj" fmla="val 50000"/>
            </a:avLst>
          </a:prstGeom>
          <a:solidFill>
            <a:srgbClr val="74C69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4709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  →  AI  →  CROP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DISEASED LEAF CAN BECOME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FARMER’S BIGGEST LOSS.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/>
        </p:spPr>
      </p:sp>
      <p:sp>
        <p:nvSpPr>
          <p:cNvPr id="4" name="Shape 2"/>
          <p:cNvSpPr/>
          <p:nvPr/>
        </p:nvSpPr>
        <p:spPr>
          <a:xfrm>
            <a:off x="1298448" y="2176272"/>
            <a:ext cx="585216" cy="585216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5" name="Image 0" descr="/home/claude/agrosense/icons/leaf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452" y="2255276"/>
            <a:ext cx="427208" cy="427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Crop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651760" y="2633472"/>
            <a:ext cx="320040" cy="310896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8" name="Shape 5"/>
          <p:cNvSpPr/>
          <p:nvPr/>
        </p:nvSpPr>
        <p:spPr>
          <a:xfrm>
            <a:off x="2889504" y="192024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/>
        </p:spPr>
      </p:sp>
      <p:sp>
        <p:nvSpPr>
          <p:cNvPr id="9" name="Shape 6"/>
          <p:cNvSpPr/>
          <p:nvPr/>
        </p:nvSpPr>
        <p:spPr>
          <a:xfrm>
            <a:off x="3639312" y="2176272"/>
            <a:ext cx="585216" cy="585216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0" name="Image 1" descr="/home/claude/agrosense/icons/warning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316" y="2255276"/>
            <a:ext cx="427208" cy="4272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80944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Appears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992624" y="2633472"/>
            <a:ext cx="320040" cy="310896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13" name="Shape 9"/>
          <p:cNvSpPr/>
          <p:nvPr/>
        </p:nvSpPr>
        <p:spPr>
          <a:xfrm>
            <a:off x="5230368" y="192024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/>
        </p:spPr>
      </p:sp>
      <p:sp>
        <p:nvSpPr>
          <p:cNvPr id="14" name="Shape 10"/>
          <p:cNvSpPr/>
          <p:nvPr/>
        </p:nvSpPr>
        <p:spPr>
          <a:xfrm>
            <a:off x="5980176" y="2176272"/>
            <a:ext cx="585216" cy="585216"/>
          </a:xfrm>
          <a:prstGeom prst="ellipse">
            <a:avLst/>
          </a:prstGeom>
          <a:solidFill>
            <a:srgbClr val="F6DED3"/>
          </a:solidFill>
          <a:ln/>
        </p:spPr>
      </p:sp>
      <p:pic>
        <p:nvPicPr>
          <p:cNvPr id="15" name="Image 2" descr="/home/claude/agrosense/icons/leaf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180" y="2255276"/>
            <a:ext cx="427208" cy="4272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21808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Spreads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333488" y="2633472"/>
            <a:ext cx="320040" cy="310896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18" name="Shape 13"/>
          <p:cNvSpPr/>
          <p:nvPr/>
        </p:nvSpPr>
        <p:spPr>
          <a:xfrm>
            <a:off x="7571232" y="192024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/>
        </p:spPr>
      </p:sp>
      <p:sp>
        <p:nvSpPr>
          <p:cNvPr id="19" name="Shape 14"/>
          <p:cNvSpPr/>
          <p:nvPr/>
        </p:nvSpPr>
        <p:spPr>
          <a:xfrm>
            <a:off x="8321040" y="2176272"/>
            <a:ext cx="585216" cy="585216"/>
          </a:xfrm>
          <a:prstGeom prst="ellipse">
            <a:avLst/>
          </a:prstGeom>
          <a:solidFill>
            <a:srgbClr val="F6DED3"/>
          </a:solidFill>
          <a:ln/>
        </p:spPr>
      </p:sp>
      <p:pic>
        <p:nvPicPr>
          <p:cNvPr id="20" name="Image 3" descr="/home/claude/agrosense/icons/chart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044" y="2255276"/>
            <a:ext cx="427208" cy="4272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62672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674352" y="2633472"/>
            <a:ext cx="320040" cy="310896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23" name="Shape 17"/>
          <p:cNvSpPr/>
          <p:nvPr/>
        </p:nvSpPr>
        <p:spPr>
          <a:xfrm>
            <a:off x="9912096" y="1920240"/>
            <a:ext cx="2084832" cy="173736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/>
        </p:spPr>
      </p:sp>
      <p:sp>
        <p:nvSpPr>
          <p:cNvPr id="24" name="Shape 18"/>
          <p:cNvSpPr/>
          <p:nvPr/>
        </p:nvSpPr>
        <p:spPr>
          <a:xfrm>
            <a:off x="10661904" y="2176272"/>
            <a:ext cx="585216" cy="585216"/>
          </a:xfrm>
          <a:prstGeom prst="ellipse">
            <a:avLst/>
          </a:prstGeom>
          <a:solidFill>
            <a:srgbClr val="F6DED3"/>
          </a:solidFill>
          <a:ln/>
        </p:spPr>
      </p:sp>
      <p:pic>
        <p:nvPicPr>
          <p:cNvPr id="25" name="Image 4" descr="/home/claude/agrosense/icons/times_terracot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0908" y="2255276"/>
            <a:ext cx="427208" cy="4272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36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Loss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416052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D8F3DC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868680" y="41605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symptoms can look similar across diseases.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172200" y="416052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D8F3DC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492240" y="41605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may not have immediate access to agricultural experts.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48640" y="502920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D8F3DC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68680" y="502920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often depends on visual judgment.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172200" y="502920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D8F3DC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492240" y="502920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action at the right time matters.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LEAF SHOWS THE SYMPTOM.</a:t>
            </a:r>
            <a:endParaRPr lang="en-US" sz="2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 EXPLAINS THE CONTEXT.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166360" cy="370332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2700">
            <a:solidFill>
              <a:srgbClr val="DDDA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057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ONLY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EDEBE3"/>
          </a:solidFill>
          <a:ln/>
        </p:spPr>
      </p:sp>
      <p:pic>
        <p:nvPicPr>
          <p:cNvPr id="6" name="Image 0" descr="/home/claude/agrosense/icons/leaf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294" y="2765374"/>
            <a:ext cx="367132" cy="3671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161288" y="3246120"/>
            <a:ext cx="914" cy="457200"/>
          </a:xfrm>
          <a:prstGeom prst="line">
            <a:avLst/>
          </a:prstGeom>
          <a:noFill/>
          <a:ln w="19050">
            <a:solidFill>
              <a:srgbClr val="6B6B6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EDEBE3"/>
          </a:solidFill>
          <a:ln/>
        </p:spPr>
      </p:sp>
      <p:pic>
        <p:nvPicPr>
          <p:cNvPr id="10" name="Image 1" descr="/home/claude/agrosense/icons/chip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94" y="3816934"/>
            <a:ext cx="367132" cy="3671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749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1161288" y="4297680"/>
            <a:ext cx="914" cy="457200"/>
          </a:xfrm>
          <a:prstGeom prst="line">
            <a:avLst/>
          </a:prstGeom>
          <a:noFill/>
          <a:ln w="19050">
            <a:solidFill>
              <a:srgbClr val="6B6B6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EDEBE3"/>
          </a:solidFill>
          <a:ln/>
        </p:spPr>
      </p:sp>
      <p:pic>
        <p:nvPicPr>
          <p:cNvPr id="14" name="Image 2" descr="/home/claude/agrosense/icons/warning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94" y="4868494"/>
            <a:ext cx="367132" cy="3671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4800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309360" y="1828800"/>
            <a:ext cx="5166360" cy="3703320"/>
          </a:xfrm>
          <a:prstGeom prst="roundRect">
            <a:avLst>
              <a:gd name="adj" fmla="val 3951"/>
            </a:avLst>
          </a:prstGeom>
          <a:solidFill>
            <a:srgbClr val="1B433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629400" y="2057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75120" y="2697480"/>
            <a:ext cx="502920" cy="50292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19" name="Image 3" descr="/home/claude/agrosense/icons/leaf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014" y="2765374"/>
            <a:ext cx="367132" cy="3671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60920" y="2624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 + Environmental Context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922008" y="3246120"/>
            <a:ext cx="914" cy="457200"/>
          </a:xfrm>
          <a:prstGeom prst="line">
            <a:avLst/>
          </a:prstGeom>
          <a:noFill/>
          <a:ln w="19050">
            <a:solidFill>
              <a:srgbClr val="74C69D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6675120" y="3749040"/>
            <a:ext cx="502920" cy="50292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3" name="Image 4" descr="/home/claude/agrosense/icons/brain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014" y="3816934"/>
            <a:ext cx="367132" cy="3671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60920" y="3675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Intelligence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922008" y="4297680"/>
            <a:ext cx="914" cy="457200"/>
          </a:xfrm>
          <a:prstGeom prst="line">
            <a:avLst/>
          </a:prstGeom>
          <a:noFill/>
          <a:ln w="19050">
            <a:solidFill>
              <a:srgbClr val="74C69D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6675120" y="4800600"/>
            <a:ext cx="502920" cy="50292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7" name="Image 5" descr="/home/claude/agrosense/icons/check_for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014" y="4868494"/>
            <a:ext cx="367132" cy="36713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360920" y="47274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Crop Health Assessment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48640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30" name="Image 6" descr="/home/claude/agrosense/icons/thermometer_for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6062472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77824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945386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33" name="Image 7" descr="/home/claude/agrosense/icons/tint_for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8538" y="6062472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2274570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850" dirty="0"/>
          </a:p>
        </p:txBody>
      </p:sp>
      <p:sp>
        <p:nvSpPr>
          <p:cNvPr id="35" name="Shape 25"/>
          <p:cNvSpPr/>
          <p:nvPr/>
        </p:nvSpPr>
        <p:spPr>
          <a:xfrm>
            <a:off x="3342132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36" name="Image 8" descr="/home/claude/agrosense/icons/tint_for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5284" y="6062472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671316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850" dirty="0"/>
          </a:p>
        </p:txBody>
      </p:sp>
      <p:sp>
        <p:nvSpPr>
          <p:cNvPr id="38" name="Shape 27"/>
          <p:cNvSpPr/>
          <p:nvPr/>
        </p:nvSpPr>
        <p:spPr>
          <a:xfrm>
            <a:off x="4738878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39" name="Image 9" descr="/home/claude/agrosense/icons/sun_fores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030" y="6062472"/>
            <a:ext cx="237744" cy="237744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5068062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Intensity</a:t>
            </a:r>
            <a:endParaRPr lang="en-US" sz="850" dirty="0"/>
          </a:p>
        </p:txBody>
      </p:sp>
      <p:sp>
        <p:nvSpPr>
          <p:cNvPr id="41" name="Shape 29"/>
          <p:cNvSpPr/>
          <p:nvPr/>
        </p:nvSpPr>
        <p:spPr>
          <a:xfrm>
            <a:off x="6135624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42" name="Image 10" descr="/home/claude/agrosense/icons/thermometer_fores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8776" y="6062472"/>
            <a:ext cx="237744" cy="237744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6464808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Temp</a:t>
            </a:r>
            <a:endParaRPr lang="en-US" sz="850" dirty="0"/>
          </a:p>
        </p:txBody>
      </p:sp>
      <p:sp>
        <p:nvSpPr>
          <p:cNvPr id="44" name="Shape 31"/>
          <p:cNvSpPr/>
          <p:nvPr/>
        </p:nvSpPr>
        <p:spPr>
          <a:xfrm>
            <a:off x="7532370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45" name="Image 11" descr="/home/claude/agrosense/icons/tint_fores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5522" y="6062472"/>
            <a:ext cx="237744" cy="237744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7861554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Wetness</a:t>
            </a:r>
            <a:endParaRPr lang="en-US" sz="850" dirty="0"/>
          </a:p>
        </p:txBody>
      </p:sp>
      <p:sp>
        <p:nvSpPr>
          <p:cNvPr id="47" name="Shape 33"/>
          <p:cNvSpPr/>
          <p:nvPr/>
        </p:nvSpPr>
        <p:spPr>
          <a:xfrm>
            <a:off x="8929116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48" name="Image 12" descr="/home/claude/agrosense/icons/cloud_fores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2268" y="6062472"/>
            <a:ext cx="237744" cy="237744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9258300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850" dirty="0"/>
          </a:p>
        </p:txBody>
      </p:sp>
      <p:sp>
        <p:nvSpPr>
          <p:cNvPr id="50" name="Shape 35"/>
          <p:cNvSpPr/>
          <p:nvPr/>
        </p:nvSpPr>
        <p:spPr>
          <a:xfrm>
            <a:off x="10325862" y="5989320"/>
            <a:ext cx="1287018" cy="365760"/>
          </a:xfrm>
          <a:prstGeom prst="roundRect">
            <a:avLst>
              <a:gd name="adj" fmla="val 52500"/>
            </a:avLst>
          </a:prstGeom>
          <a:solidFill>
            <a:srgbClr val="D8F3DC"/>
          </a:solidFill>
          <a:ln/>
        </p:spPr>
      </p:sp>
      <p:pic>
        <p:nvPicPr>
          <p:cNvPr id="51" name="Image 13" descr="/home/claude/agrosense/icons/wind_fores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99014" y="6062472"/>
            <a:ext cx="237744" cy="237744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10655046" y="5989320"/>
            <a:ext cx="884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850" dirty="0"/>
          </a:p>
        </p:txBody>
      </p:sp>
      <p:sp>
        <p:nvSpPr>
          <p:cNvPr id="53" name="Text 37"/>
          <p:cNvSpPr txBox="1"/>
          <p:nvPr/>
        </p:nvSpPr>
        <p:spPr>
          <a:xfrm>
            <a:off x="548640" y="56692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context adds information beyond appearance.</a:t>
            </a:r>
            <a:endParaRPr lang="en-US" sz="1100" dirty="0"/>
          </a:p>
        </p:txBody>
      </p:sp>
      <p:sp>
        <p:nvSpPr>
          <p:cNvPr id="54" name="Text 38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55" name="Text 3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PHOTO. ONE DIAGNOSIS. ONE ACTIONABLE ANSWER.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2051914" cy="3246120"/>
          </a:xfrm>
          <a:prstGeom prst="roundRect">
            <a:avLst>
              <a:gd name="adj" fmla="val 6239"/>
            </a:avLst>
          </a:prstGeom>
          <a:solidFill>
            <a:srgbClr val="F7F5E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3232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5413" y="2834640"/>
            <a:ext cx="658368" cy="65836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/home/claude/agrosense/icons/camera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292" y="2923520"/>
            <a:ext cx="480609" cy="4806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703320"/>
            <a:ext cx="1777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114800"/>
            <a:ext cx="1649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leaf photo.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9698" y="3634740"/>
            <a:ext cx="320040" cy="27432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10" name="Shape 7"/>
          <p:cNvSpPr/>
          <p:nvPr/>
        </p:nvSpPr>
        <p:spPr>
          <a:xfrm>
            <a:off x="2801722" y="2148840"/>
            <a:ext cx="2051914" cy="3246120"/>
          </a:xfrm>
          <a:prstGeom prst="roundRect">
            <a:avLst>
              <a:gd name="adj" fmla="val 6239"/>
            </a:avLst>
          </a:prstGeom>
          <a:solidFill>
            <a:srgbClr val="F7F5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966314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98494" y="2834640"/>
            <a:ext cx="658368" cy="65836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1" descr="/home/claude/agrosense/icons/search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374" y="2923520"/>
            <a:ext cx="480609" cy="48060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38882" y="3703320"/>
            <a:ext cx="1777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002890" y="4114800"/>
            <a:ext cx="1649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 image quality and analyzes the crop.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62779" y="3634740"/>
            <a:ext cx="320040" cy="27432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17" name="Shape 13"/>
          <p:cNvSpPr/>
          <p:nvPr/>
        </p:nvSpPr>
        <p:spPr>
          <a:xfrm>
            <a:off x="5054803" y="2148840"/>
            <a:ext cx="2051914" cy="3246120"/>
          </a:xfrm>
          <a:prstGeom prst="roundRect">
            <a:avLst>
              <a:gd name="adj" fmla="val 6239"/>
            </a:avLst>
          </a:prstGeom>
          <a:solidFill>
            <a:srgbClr val="F7F5E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219395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751576" y="2834640"/>
            <a:ext cx="658368" cy="65836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0" name="Image 2" descr="/home/claude/agrosense/icons/cloud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456" y="2923520"/>
            <a:ext cx="480609" cy="48060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91963" y="3703320"/>
            <a:ext cx="1777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255971" y="4114800"/>
            <a:ext cx="1649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environmental information is incorporated.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115861" y="3634740"/>
            <a:ext cx="320040" cy="27432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24" name="Shape 19"/>
          <p:cNvSpPr/>
          <p:nvPr/>
        </p:nvSpPr>
        <p:spPr>
          <a:xfrm>
            <a:off x="7307885" y="2148840"/>
            <a:ext cx="2051914" cy="3246120"/>
          </a:xfrm>
          <a:prstGeom prst="roundRect">
            <a:avLst>
              <a:gd name="adj" fmla="val 6239"/>
            </a:avLst>
          </a:prstGeom>
          <a:solidFill>
            <a:srgbClr val="1B433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72477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8004658" y="2834640"/>
            <a:ext cx="658368" cy="65836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7" name="Image 3" descr="/home/claude/agrosense/icons/brain_light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537" y="2923520"/>
            <a:ext cx="480609" cy="48060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45045" y="3703320"/>
            <a:ext cx="1777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509053" y="4114800"/>
            <a:ext cx="1649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/ crop condition + confidence.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368942" y="3634740"/>
            <a:ext cx="320040" cy="27432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31" name="Shape 25"/>
          <p:cNvSpPr/>
          <p:nvPr/>
        </p:nvSpPr>
        <p:spPr>
          <a:xfrm>
            <a:off x="9560966" y="2148840"/>
            <a:ext cx="2051914" cy="3246120"/>
          </a:xfrm>
          <a:prstGeom prst="roundRect">
            <a:avLst>
              <a:gd name="adj" fmla="val 6239"/>
            </a:avLst>
          </a:prstGeom>
          <a:solidFill>
            <a:srgbClr val="F7F5EF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9725558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10257739" y="2834640"/>
            <a:ext cx="658368" cy="65836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4" name="Image 4" descr="/home/claude/agrosense/icons/check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6619" y="2923520"/>
            <a:ext cx="480609" cy="480609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698126" y="3703320"/>
            <a:ext cx="17775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9762134" y="4114800"/>
            <a:ext cx="1649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guidance in the farmer’s language.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LEAF IMAGE TO CROP INTELLIGENCE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72768"/>
            <a:ext cx="493776" cy="493776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5" name="Image 0" descr="/home/claude/agrosense/icons/camera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00" y="1639428"/>
            <a:ext cx="360456" cy="360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6304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1463040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   ·   Environmental Sensors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 rot="10800000">
            <a:off x="5806440" y="2176272"/>
            <a:ext cx="201168" cy="82296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21992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331720"/>
            <a:ext cx="493776" cy="493776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1" name="Image 1" descr="/home/claude/agrosense/icons/layer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00" y="2398380"/>
            <a:ext cx="360456" cy="360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22199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251960" y="2221992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Check   ·   Preprocessing   ·   Sensor Validation   ·   Temporal Alignment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 rot="10800000">
            <a:off x="5806440" y="2935224"/>
            <a:ext cx="201168" cy="82296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298094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090672"/>
            <a:ext cx="493776" cy="493776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2" descr="/home/claude/agrosense/icons/chip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00" y="3157332"/>
            <a:ext cx="360456" cy="360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298094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EXTRACTION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251960" y="2980944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Features   ·   Environmental Context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 rot="10800000">
            <a:off x="5806440" y="3694176"/>
            <a:ext cx="201168" cy="82296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373989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3849624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3" name="Image 3" descr="/home/claude/agrosense/icons/brain_light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00" y="3916284"/>
            <a:ext cx="360456" cy="360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37398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251960" y="3739896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Representation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 rot="10800000">
            <a:off x="5806440" y="4453128"/>
            <a:ext cx="201168" cy="82296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27" name="Shape 21"/>
          <p:cNvSpPr/>
          <p:nvPr/>
        </p:nvSpPr>
        <p:spPr>
          <a:xfrm>
            <a:off x="548640" y="449884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4608576"/>
            <a:ext cx="493776" cy="493776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9" name="Image 4" descr="/home/claude/agrosense/icons/search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00" y="4675236"/>
            <a:ext cx="360456" cy="360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508760" y="449884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ENGINE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4251960" y="4498848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/ Condition · Confidence · Severity (if validated) · Risk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 rot="10800000">
            <a:off x="5806440" y="5212080"/>
            <a:ext cx="201168" cy="82296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33" name="Shape 26"/>
          <p:cNvSpPr/>
          <p:nvPr/>
        </p:nvSpPr>
        <p:spPr>
          <a:xfrm>
            <a:off x="548640" y="525780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77240" y="5367528"/>
            <a:ext cx="493776" cy="493776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5" name="Image 5" descr="/home/claude/agrosense/icons/mobile_for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00" y="5434188"/>
            <a:ext cx="360456" cy="360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508760" y="525780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APP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4251960" y="5257800"/>
            <a:ext cx="717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  ·   Telugu   ·   Hindi   ·   Voice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AI. NOT A RULE-BASED DEMO.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D8F3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48840" y="2167128"/>
            <a:ext cx="914" cy="27432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441448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Feature Extractor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48840" y="3008376"/>
            <a:ext cx="914" cy="27432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282696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160020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D8F3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60520" y="1600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2167128"/>
            <a:ext cx="914" cy="27432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60520" y="2441448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2441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Context Encoder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3849624"/>
            <a:ext cx="2971800" cy="13716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2441448"/>
            <a:ext cx="411480" cy="1545336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66160" y="3986784"/>
            <a:ext cx="4114800" cy="640080"/>
          </a:xfrm>
          <a:prstGeom prst="roundRect">
            <a:avLst>
              <a:gd name="adj" fmla="val 17143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66160" y="39867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4626864"/>
            <a:ext cx="914" cy="27432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66160" y="4928616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74C69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66160" y="49286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INTELLIGENCE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is designed to combine what the crop looks like with the conditions surrounding it.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GROUNDNUT DISEASE CLASSES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29718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8F3D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738360" y="29718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8F3D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836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Rust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0" y="34107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8F3D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0" y="3410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38360" y="34107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8F3D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738360" y="3410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Leaf Spot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0" y="3849624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8F3D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0" y="3849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Leaf Spot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738360" y="3849624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8F3D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38360" y="3849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Deficiency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72400" y="466344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F7F5E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01000" y="4754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metrics shown only after independent testing.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FARMER, NOT FOR A DATA SCIENTIST.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23748" y="1874520"/>
            <a:ext cx="1965960" cy="4160520"/>
          </a:xfrm>
          <a:prstGeom prst="roundRect">
            <a:avLst>
              <a:gd name="adj" fmla="val 9302"/>
            </a:avLst>
          </a:prstGeom>
          <a:solidFill>
            <a:srgbClr val="0E241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6688" y="2377440"/>
            <a:ext cx="640080" cy="640080"/>
          </a:xfrm>
          <a:prstGeom prst="ellipse">
            <a:avLst/>
          </a:prstGeom>
          <a:solidFill>
            <a:srgbClr val="1E4636"/>
          </a:solidFill>
          <a:ln/>
        </p:spPr>
      </p:sp>
      <p:pic>
        <p:nvPicPr>
          <p:cNvPr id="5" name="Image 0" descr="/home/claude/agrosense/icons/seedling_light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098" y="2463851"/>
            <a:ext cx="467258" cy="4672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0908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CROP DOCTOR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98068" y="5120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4C69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98068" y="5120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MY CROP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23748" y="6172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18308" y="1874520"/>
            <a:ext cx="1965960" cy="4160520"/>
          </a:xfrm>
          <a:prstGeom prst="roundRect">
            <a:avLst>
              <a:gd name="adj" fmla="val 9302"/>
            </a:avLst>
          </a:prstGeom>
          <a:solidFill>
            <a:srgbClr val="0E241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55468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Your Crop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8348" y="2606040"/>
            <a:ext cx="1325880" cy="1554480"/>
          </a:xfrm>
          <a:prstGeom prst="roundRect">
            <a:avLst>
              <a:gd name="adj" fmla="val 6897"/>
            </a:avLst>
          </a:prstGeom>
          <a:solidFill>
            <a:srgbClr val="163B2E"/>
          </a:solidFill>
          <a:ln w="15240">
            <a:solidFill>
              <a:srgbClr val="74C69D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608680" y="3090672"/>
            <a:ext cx="585216" cy="585216"/>
          </a:xfrm>
          <a:prstGeom prst="ellipse">
            <a:avLst/>
          </a:prstGeom>
          <a:solidFill>
            <a:srgbClr val="1E4636"/>
          </a:solidFill>
          <a:ln/>
        </p:spPr>
      </p:sp>
      <p:pic>
        <p:nvPicPr>
          <p:cNvPr id="14" name="Image 1" descr="/home/claude/agrosense/icons/leaf_light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684" y="3169676"/>
            <a:ext cx="427208" cy="4272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146908" y="43891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lighting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leaf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Keep image in focus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645256" y="5440680"/>
            <a:ext cx="512064" cy="512064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918308" y="6172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112868" y="1874520"/>
            <a:ext cx="1965960" cy="4160520"/>
          </a:xfrm>
          <a:prstGeom prst="roundRect">
            <a:avLst>
              <a:gd name="adj" fmla="val 9302"/>
            </a:avLst>
          </a:prstGeom>
          <a:solidFill>
            <a:srgbClr val="0E241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250028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crop...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341468" y="2743200"/>
            <a:ext cx="274320" cy="27432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1" name="Image 2" descr="/home/claude/agrosense/icons/check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044" y="2779776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07228" y="26974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341468" y="3337560"/>
            <a:ext cx="274320" cy="27432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4" name="Image 3" descr="/home/claude/agrosense/icons/check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044" y="337413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07228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341468" y="3931920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707228" y="3886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context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341468" y="4526280"/>
            <a:ext cx="274320" cy="2743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707228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5112868" y="6172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307428" y="1874520"/>
            <a:ext cx="1965960" cy="4160520"/>
          </a:xfrm>
          <a:prstGeom prst="roundRect">
            <a:avLst>
              <a:gd name="adj" fmla="val 9302"/>
            </a:avLst>
          </a:prstGeom>
          <a:solidFill>
            <a:srgbClr val="0E241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444588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GROUNDNUT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444588" y="246888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163B2E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581748" y="2468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 result]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[model confidence]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7444588" y="3383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CONTEXT</a:t>
            </a:r>
            <a:endParaRPr lang="en-US" sz="750" dirty="0"/>
          </a:p>
        </p:txBody>
      </p:sp>
      <p:pic>
        <p:nvPicPr>
          <p:cNvPr id="36" name="Image 4" descr="/home/claude/agrosense/icons/thermometer_light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308" y="3685032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782916" y="3648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50" dirty="0"/>
          </a:p>
        </p:txBody>
      </p:sp>
      <p:pic>
        <p:nvPicPr>
          <p:cNvPr id="38" name="Image 5" descr="/home/claude/agrosense/icons/tint_light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308" y="4069080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782916" y="40325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850" dirty="0"/>
          </a:p>
        </p:txBody>
      </p:sp>
      <p:pic>
        <p:nvPicPr>
          <p:cNvPr id="40" name="Image 6" descr="/home/claude/agrosense/icons/tint_light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0308" y="4453128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782916" y="44165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850" dirty="0"/>
          </a:p>
        </p:txBody>
      </p:sp>
      <p:sp>
        <p:nvSpPr>
          <p:cNvPr id="42" name="Text 33"/>
          <p:cNvSpPr txBox="1"/>
          <p:nvPr/>
        </p:nvSpPr>
        <p:spPr>
          <a:xfrm>
            <a:off x="7307428" y="6172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9501988" y="1874520"/>
            <a:ext cx="1965960" cy="4160520"/>
          </a:xfrm>
          <a:prstGeom prst="roundRect">
            <a:avLst>
              <a:gd name="adj" fmla="val 9302"/>
            </a:avLst>
          </a:prstGeom>
          <a:solidFill>
            <a:srgbClr val="0E241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9639148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9684868" y="26517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63B2E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9822028" y="27889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next steps for the identified condition.</a:t>
            </a:r>
            <a:endParaRPr lang="en-US" sz="850" dirty="0"/>
          </a:p>
        </p:txBody>
      </p:sp>
      <p:sp>
        <p:nvSpPr>
          <p:cNvPr id="47" name="Text 38"/>
          <p:cNvSpPr txBox="1"/>
          <p:nvPr/>
        </p:nvSpPr>
        <p:spPr>
          <a:xfrm>
            <a:off x="9639148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 |  తెలుగు  |  हिन्दी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9822028" y="4709160"/>
            <a:ext cx="1325880" cy="457200"/>
          </a:xfrm>
          <a:prstGeom prst="roundRect">
            <a:avLst>
              <a:gd name="adj" fmla="val 50000"/>
            </a:avLst>
          </a:prstGeom>
          <a:ln w="15240">
            <a:solidFill>
              <a:srgbClr val="74C69D"/>
            </a:solidFill>
            <a:prstDash val="solid"/>
          </a:ln>
        </p:spPr>
      </p:sp>
      <p:pic>
        <p:nvPicPr>
          <p:cNvPr id="49" name="Image 7" descr="/home/claude/agrosense/icons/volume_light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4908" y="4800600"/>
            <a:ext cx="274320" cy="27432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0324948" y="4709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950" dirty="0"/>
          </a:p>
        </p:txBody>
      </p:sp>
      <p:sp>
        <p:nvSpPr>
          <p:cNvPr id="51" name="Text 41"/>
          <p:cNvSpPr txBox="1"/>
          <p:nvPr/>
        </p:nvSpPr>
        <p:spPr>
          <a:xfrm>
            <a:off x="9501988" y="6172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ONLY USEFUL IF THE FARMER CAN UNDERSTAND IT.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429000" cy="2743200"/>
          </a:xfrm>
          <a:prstGeom prst="roundRect">
            <a:avLst>
              <a:gd name="adj" fmla="val 4667"/>
            </a:avLst>
          </a:prstGeom>
          <a:solidFill>
            <a:srgbClr val="D8F3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recommended treatment within 3 days.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agrosense/icons/volum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95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3931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429000" cy="2743200"/>
          </a:xfrm>
          <a:prstGeom prst="roundRect">
            <a:avLst>
              <a:gd name="adj" fmla="val 4667"/>
            </a:avLst>
          </a:prstGeom>
          <a:solidFill>
            <a:srgbClr val="D8F3D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26280" y="2011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తెలుగు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2514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శిఫారసు చేసిన చికిత్సను 3 రోజుల్లో అందజేయండి.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393192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pic>
        <p:nvPicPr>
          <p:cNvPr id="13" name="Image 1" descr="/home/claude/agrosense/icons/volume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9959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0" y="3931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1783080"/>
            <a:ext cx="3429000" cy="2743200"/>
          </a:xfrm>
          <a:prstGeom prst="roundRect">
            <a:avLst>
              <a:gd name="adj" fmla="val 4667"/>
            </a:avLst>
          </a:prstGeom>
          <a:solidFill>
            <a:srgbClr val="D8F3D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229600" y="2011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हिन्दी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2514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अनुशंसित उपचार को 3 दिनों के भीतर लागू करें।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29600" y="393192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pic>
        <p:nvPicPr>
          <p:cNvPr id="19" name="Image 2" descr="/home/claude/agrosense/icons/volume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99592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2520" y="3931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100" dirty="0"/>
          </a:p>
        </p:txBody>
      </p:sp>
      <p:pic>
        <p:nvPicPr>
          <p:cNvPr id="21" name="Image 3" descr="/home/claude/agrosense/icons/check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377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012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Local-language guidance</a:t>
            </a:r>
            <a:endParaRPr lang="en-US" sz="1300" dirty="0"/>
          </a:p>
        </p:txBody>
      </p:sp>
      <p:pic>
        <p:nvPicPr>
          <p:cNvPr id="23" name="Image 4" descr="/home/claude/agrosense/icons/check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9377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8368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farmer-friendly wording</a:t>
            </a:r>
            <a:endParaRPr lang="en-US" sz="1300" dirty="0"/>
          </a:p>
        </p:txBody>
      </p:sp>
      <p:pic>
        <p:nvPicPr>
          <p:cNvPr id="25" name="Image 5" descr="/home/claude/agrosense/icons/check_for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2356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6012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</a:t>
            </a:r>
            <a:endParaRPr lang="en-US" sz="1300" dirty="0"/>
          </a:p>
        </p:txBody>
      </p:sp>
      <p:pic>
        <p:nvPicPr>
          <p:cNvPr id="27" name="Image 6" descr="/home/claude/agrosense/icons/check_for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562356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58368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technical terminology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AI IS NOT SURE, IT SHOULD SAY SO.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6382C"/>
          </a:solidFill>
          <a:ln w="16510">
            <a:solidFill>
              <a:srgbClr val="74C6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007108"/>
            <a:ext cx="512064" cy="512064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5" name="Image 0" descr="/home/claude/agrosense/icons/check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2076237"/>
            <a:ext cx="373807" cy="3738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available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6382C"/>
          </a:solidFill>
          <a:ln w="16510">
            <a:solidFill>
              <a:srgbClr val="E9A9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3241548"/>
            <a:ext cx="512064" cy="512064"/>
          </a:xfrm>
          <a:prstGeom prst="ellipse">
            <a:avLst/>
          </a:prstGeom>
          <a:solidFill>
            <a:srgbClr val="E9A93A"/>
          </a:solidFill>
          <a:ln/>
        </p:spPr>
      </p:sp>
      <p:pic>
        <p:nvPicPr>
          <p:cNvPr id="9" name="Image 1" descr="/home/claude/agrosense/icons/warning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3310677"/>
            <a:ext cx="373807" cy="3738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CONFIDENCE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uncertainty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6382C"/>
          </a:solidFill>
          <a:ln w="16510">
            <a:solidFill>
              <a:srgbClr val="E0A98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4475988"/>
            <a:ext cx="512064" cy="512064"/>
          </a:xfrm>
          <a:prstGeom prst="ellipse">
            <a:avLst/>
          </a:prstGeom>
          <a:solidFill>
            <a:srgbClr val="E0A98A"/>
          </a:solidFill>
          <a:ln/>
        </p:spPr>
      </p:sp>
      <p:pic>
        <p:nvPicPr>
          <p:cNvPr id="13" name="Image 2" descr="/home/claude/agrosense/icons/question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4545117"/>
            <a:ext cx="373807" cy="3738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343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another image / expert review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434840" y="1737360"/>
            <a:ext cx="3451860" cy="1051560"/>
          </a:xfrm>
          <a:prstGeom prst="roundRect">
            <a:avLst>
              <a:gd name="adj" fmla="val 8696"/>
            </a:avLst>
          </a:prstGeom>
          <a:solidFill>
            <a:srgbClr val="16382C"/>
          </a:solidFill>
          <a:ln w="12700">
            <a:solidFill>
              <a:srgbClr val="3D6E5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636008" y="2043684"/>
            <a:ext cx="438912" cy="438912"/>
          </a:xfrm>
          <a:prstGeom prst="ellipse">
            <a:avLst/>
          </a:prstGeom>
          <a:solidFill>
            <a:srgbClr val="E0A98A"/>
          </a:solidFill>
          <a:ln/>
        </p:spPr>
      </p:sp>
      <p:pic>
        <p:nvPicPr>
          <p:cNvPr id="17" name="Image 3" descr="/home/claude/agrosense/icons/times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61" y="2102937"/>
            <a:ext cx="320406" cy="32040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84648" y="1828800"/>
            <a:ext cx="25374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Image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161020" y="1737360"/>
            <a:ext cx="3451860" cy="1051560"/>
          </a:xfrm>
          <a:prstGeom prst="roundRect">
            <a:avLst>
              <a:gd name="adj" fmla="val 8696"/>
            </a:avLst>
          </a:prstGeom>
          <a:solidFill>
            <a:srgbClr val="16382C"/>
          </a:solidFill>
          <a:ln w="12700">
            <a:solidFill>
              <a:srgbClr val="3D6E5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62188" y="2043684"/>
            <a:ext cx="438912" cy="438912"/>
          </a:xfrm>
          <a:prstGeom prst="ellipse">
            <a:avLst/>
          </a:prstGeom>
          <a:solidFill>
            <a:srgbClr val="E0A98A"/>
          </a:solidFill>
          <a:ln/>
        </p:spPr>
      </p:sp>
      <p:pic>
        <p:nvPicPr>
          <p:cNvPr id="21" name="Image 4" descr="/home/claude/agrosense/icons/times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441" y="2102937"/>
            <a:ext cx="320406" cy="32040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10828" y="1828800"/>
            <a:ext cx="25374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Crop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434840" y="2971800"/>
            <a:ext cx="3451860" cy="1051560"/>
          </a:xfrm>
          <a:prstGeom prst="roundRect">
            <a:avLst>
              <a:gd name="adj" fmla="val 8696"/>
            </a:avLst>
          </a:prstGeom>
          <a:solidFill>
            <a:srgbClr val="16382C"/>
          </a:solidFill>
          <a:ln w="12700">
            <a:solidFill>
              <a:srgbClr val="3D6E5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636008" y="3278124"/>
            <a:ext cx="438912" cy="438912"/>
          </a:xfrm>
          <a:prstGeom prst="ellipse">
            <a:avLst/>
          </a:prstGeom>
          <a:solidFill>
            <a:srgbClr val="E0A98A"/>
          </a:solidFill>
          <a:ln/>
        </p:spPr>
      </p:sp>
      <p:pic>
        <p:nvPicPr>
          <p:cNvPr id="25" name="Image 5" descr="/home/claude/agrosense/icons/warning_for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261" y="3337377"/>
            <a:ext cx="320406" cy="32040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184648" y="3063240"/>
            <a:ext cx="25374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Environmental Data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visual diagnosis, flag missing context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8161020" y="2971800"/>
            <a:ext cx="3451860" cy="1051560"/>
          </a:xfrm>
          <a:prstGeom prst="roundRect">
            <a:avLst>
              <a:gd name="adj" fmla="val 8696"/>
            </a:avLst>
          </a:prstGeom>
          <a:solidFill>
            <a:srgbClr val="16382C"/>
          </a:solidFill>
          <a:ln w="12700">
            <a:solidFill>
              <a:srgbClr val="3D6E5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362188" y="3278124"/>
            <a:ext cx="438912" cy="438912"/>
          </a:xfrm>
          <a:prstGeom prst="ellipse">
            <a:avLst/>
          </a:prstGeom>
          <a:solidFill>
            <a:srgbClr val="E0A98A"/>
          </a:solidFill>
          <a:ln/>
        </p:spPr>
      </p:sp>
      <p:pic>
        <p:nvPicPr>
          <p:cNvPr id="29" name="Image 6" descr="/home/claude/agrosense/icons/times_for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441" y="3337377"/>
            <a:ext cx="320406" cy="32040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910828" y="3063240"/>
            <a:ext cx="25374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Unavailable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prediction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C1502E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FAKE DIAGNOSIS.   NO FAKE CONFIDENCE.   NO FABRICATED DATA.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GROW FROM A PHONE</a:t>
            </a:r>
            <a:endParaRPr lang="en-US" sz="2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 FARM INTELLIGENCE PLATFORM.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6424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24812"/>
            <a:ext cx="475488" cy="47548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5" name="Image 0" descr="/home/claude/agrosense/icons/mobil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431" y="1989003"/>
            <a:ext cx="347106" cy="3471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83080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783080"/>
            <a:ext cx="6766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  ·   Camera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 rot="10800000">
            <a:off x="5806440" y="2542032"/>
            <a:ext cx="182880" cy="73152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15184"/>
            <a:ext cx="1106424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56916"/>
            <a:ext cx="475488" cy="47548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1" name="Image 1" descr="/home/claude/agrosense/icons/chip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31" y="2821107"/>
            <a:ext cx="347106" cy="3471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615184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API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2615184"/>
            <a:ext cx="6766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Service   ·   Sensor Gateway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 rot="10800000">
            <a:off x="5806440" y="3374136"/>
            <a:ext cx="182880" cy="73152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3447288"/>
            <a:ext cx="1106424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589020"/>
            <a:ext cx="475488" cy="47548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2" descr="/home/claude/agrosense/icons/brain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31" y="3653211"/>
            <a:ext cx="347106" cy="3471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3447288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206240" y="3447288"/>
            <a:ext cx="6766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Model   ·   Environmental Encoder   ·   Multimodal Fusion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 rot="10800000">
            <a:off x="5806440" y="4206240"/>
            <a:ext cx="182880" cy="73152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4279392"/>
            <a:ext cx="1106424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421124"/>
            <a:ext cx="475488" cy="47548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3" name="Image 3" descr="/home/claude/agrosense/icons/database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1" y="4485315"/>
            <a:ext cx="347106" cy="34710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4279392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4206240" y="4279392"/>
            <a:ext cx="6766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Images   ·   Telemetry   ·   Diagnostic History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 rot="10800000">
            <a:off x="5806440" y="5038344"/>
            <a:ext cx="182880" cy="73152"/>
          </a:xfrm>
          <a:prstGeom prst="triangle">
            <a:avLst/>
          </a:prstGeom>
          <a:solidFill>
            <a:srgbClr val="40916C"/>
          </a:solidFill>
          <a:ln/>
        </p:spPr>
      </p:sp>
      <p:sp>
        <p:nvSpPr>
          <p:cNvPr id="27" name="Shape 21"/>
          <p:cNvSpPr/>
          <p:nvPr/>
        </p:nvSpPr>
        <p:spPr>
          <a:xfrm>
            <a:off x="548640" y="5111496"/>
            <a:ext cx="11064240" cy="758952"/>
          </a:xfrm>
          <a:prstGeom prst="roundRect">
            <a:avLst>
              <a:gd name="adj" fmla="val 12048"/>
            </a:avLst>
          </a:prstGeom>
          <a:solidFill>
            <a:srgbClr val="D8F3DC"/>
          </a:solidFill>
          <a:ln w="17780">
            <a:solidFill>
              <a:srgbClr val="74C69D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777240" y="525322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/home/claude/agrosense/icons/satellite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31" y="5317419"/>
            <a:ext cx="347106" cy="34710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63040" y="5111496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EXTENSION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206240" y="5111496"/>
            <a:ext cx="6766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  ·   Fixed Canopy   ·   Ground Robot   ·   UAV / Drone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75320" y="5317236"/>
            <a:ext cx="31546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275320" y="531723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CURRENTLY CONNECTED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INFORMATION CAN CHANGE</a:t>
            </a:r>
            <a:endParaRPr lang="en-US" sz="27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FARMER’S NEXT DECISION.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F7F5E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pic>
        <p:nvPicPr>
          <p:cNvPr id="5" name="Image 0" descr="/home/claude/agrosense/icons/times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706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diagnosis</a:t>
            </a:r>
            <a:endParaRPr lang="en-US" sz="1250" dirty="0"/>
          </a:p>
        </p:txBody>
      </p:sp>
      <p:pic>
        <p:nvPicPr>
          <p:cNvPr id="7" name="Image 1" descr="/home/claude/agrosense/icons/times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54787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action</a:t>
            </a:r>
            <a:endParaRPr lang="en-US" sz="1250" dirty="0"/>
          </a:p>
        </p:txBody>
      </p:sp>
      <p:pic>
        <p:nvPicPr>
          <p:cNvPr id="9" name="Image 2" descr="/home/claude/agrosense/icons/times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2511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250" dirty="0"/>
          </a:p>
        </p:txBody>
      </p:sp>
      <p:pic>
        <p:nvPicPr>
          <p:cNvPr id="11" name="Image 3" descr="/home/claude/agrosense/icons/times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0235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3444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expert access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251960" y="196596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B4332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452628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526280" y="2743200"/>
            <a:ext cx="365760" cy="3657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16" name="Image 4" descr="/home/claude/agrosense/icons/camera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658" y="2792578"/>
            <a:ext cx="267005" cy="2670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0292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526280" y="3520440"/>
            <a:ext cx="365760" cy="3657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19" name="Image 5" descr="/home/claude/agrosense/icons/search_for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658" y="3569818"/>
            <a:ext cx="267005" cy="2670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02920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526280" y="4297680"/>
            <a:ext cx="365760" cy="3657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2" name="Image 6" descr="/home/claude/agrosense/icons/brain_fore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658" y="4347058"/>
            <a:ext cx="267005" cy="2670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0292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4526280" y="5074920"/>
            <a:ext cx="365760" cy="3657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5" name="Image 7" descr="/home/claude/agrosense/icons/check_for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5658" y="5124298"/>
            <a:ext cx="267005" cy="2670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02920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7955280" y="196596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D8F3DC"/>
          </a:solidFill>
          <a:ln/>
        </p:spPr>
      </p:sp>
      <p:sp>
        <p:nvSpPr>
          <p:cNvPr id="28" name="Text 18"/>
          <p:cNvSpPr txBox="1"/>
          <p:nvPr/>
        </p:nvSpPr>
        <p:spPr>
          <a:xfrm>
            <a:off x="822960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pic>
        <p:nvPicPr>
          <p:cNvPr id="29" name="Image 8" descr="/home/claude/agrosense/icons/check_for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2770632"/>
            <a:ext cx="274320" cy="2743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641080" y="2743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crop assessment</a:t>
            </a:r>
            <a:endParaRPr lang="en-US" sz="1150" dirty="0"/>
          </a:p>
        </p:txBody>
      </p:sp>
      <p:pic>
        <p:nvPicPr>
          <p:cNvPr id="31" name="Image 9" descr="/home/claude/agrosense/icons/check_fores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3547872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64108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information</a:t>
            </a:r>
            <a:endParaRPr lang="en-US" sz="1150" dirty="0"/>
          </a:p>
        </p:txBody>
      </p:sp>
      <p:pic>
        <p:nvPicPr>
          <p:cNvPr id="33" name="Image 10" descr="/home/claude/agrosense/icons/check_fores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0" y="4325112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641080" y="4297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Local-language guidance</a:t>
            </a:r>
            <a:endParaRPr lang="en-US" sz="1150" dirty="0"/>
          </a:p>
        </p:txBody>
      </p:sp>
      <p:pic>
        <p:nvPicPr>
          <p:cNvPr id="35" name="Image 11" descr="/home/claude/agrosense/icons/check_fores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5102352"/>
            <a:ext cx="274320" cy="27432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641080" y="5074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diagnostic history</a:t>
            </a:r>
            <a:endParaRPr lang="en-US" sz="1150" dirty="0"/>
          </a:p>
        </p:txBody>
      </p:sp>
      <p:sp>
        <p:nvSpPr>
          <p:cNvPr id="37" name="Shape 23"/>
          <p:cNvSpPr/>
          <p:nvPr/>
        </p:nvSpPr>
        <p:spPr>
          <a:xfrm>
            <a:off x="3950208" y="3931920"/>
            <a:ext cx="320040" cy="27432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38" name="Shape 24"/>
          <p:cNvSpPr/>
          <p:nvPr/>
        </p:nvSpPr>
        <p:spPr>
          <a:xfrm>
            <a:off x="7653528" y="3931920"/>
            <a:ext cx="320040" cy="27432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39" name="Text 2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206240" cy="42062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CROP.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CONTEXT.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THE FARMER ACT.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AGROSENSE AI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“Snap a leaf. Know the problem. Get the right guidance.”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9588" y="4434840"/>
            <a:ext cx="1051560" cy="10515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8" name="Image 0" descr="/home/claude/agrosense/icons/camera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1548" y="4576801"/>
            <a:ext cx="767639" cy="7676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63828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781148" y="4434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284068" y="4434840"/>
            <a:ext cx="1051560" cy="10515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12" name="Image 1" descr="/home/claude/agrosense/icons/brain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028" y="4576801"/>
            <a:ext cx="767639" cy="7676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18308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4335628" y="4434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4838548" y="4434840"/>
            <a:ext cx="1051560" cy="10515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16" name="Image 2" descr="/home/claude/agrosense/icons/cloud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508" y="4576801"/>
            <a:ext cx="767639" cy="7676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72788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890108" y="4434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6393028" y="4434840"/>
            <a:ext cx="1051560" cy="10515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0" name="Image 3" descr="/home/claude/agrosense/icons/language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988" y="4576801"/>
            <a:ext cx="767639" cy="7676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27268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7444588" y="4434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7947508" y="4434840"/>
            <a:ext cx="1051560" cy="1051560"/>
          </a:xfrm>
          <a:prstGeom prst="ellipse">
            <a:avLst/>
          </a:prstGeom>
          <a:solidFill>
            <a:srgbClr val="74C69D"/>
          </a:solidFill>
          <a:ln/>
        </p:spPr>
      </p:sp>
      <p:pic>
        <p:nvPicPr>
          <p:cNvPr id="24" name="Image 4" descr="/home/claude/agrosense/icons/check_for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468" y="4576801"/>
            <a:ext cx="767639" cy="76763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81748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449928" y="626364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4449928" y="6263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DEVERT-A-THON 2026  ·  DVPS07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449928" y="6263640"/>
            <a:ext cx="3291840" cy="365760"/>
          </a:xfrm>
          <a:prstGeom prst="roundRect">
            <a:avLst>
              <a:gd name="adj" fmla="val 50000"/>
            </a:avLst>
          </a:prstGeom>
          <a:ln w="12700">
            <a:solidFill>
              <a:srgbClr val="74C69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AI  ·  DeVert-A-Thon 2026  ·  DVPS07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2026-09-11T05:29:45Z</dcterms:created>
  <dcterms:modified xsi:type="dcterms:W3CDTF">2026-09-11T05:29:45Z</dcterms:modified>
</cp:coreProperties>
</file>